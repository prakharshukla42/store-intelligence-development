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6B6D4"/>
                </a:solidFill>
                <a:latin typeface="Arial"/>
              </a:defRPr>
            </a:pPr>
            <a:r>
              <a:t>APEX STORE INTELLIGENCE</a:t>
            </a:r>
          </a:p>
          <a:p>
            <a:pPr algn="ctr">
              <a:spcBef>
                <a:spcPts val="2000"/>
              </a:spcBef>
              <a:defRPr sz="2200">
                <a:solidFill>
                  <a:srgbClr val="6366F1"/>
                </a:solidFill>
                <a:latin typeface="Arial"/>
              </a:defRPr>
            </a:pPr>
            <a:r>
              <a:t>Bridging the Offline Retail Data Blindspot with End-to-End Analytics</a:t>
            </a:r>
          </a:p>
          <a:p>
            <a:pPr algn="ctr">
              <a:spcBef>
                <a:spcPts val="4000"/>
              </a:spcBef>
              <a:defRPr sz="1400">
                <a:solidFill>
                  <a:srgbClr val="9CA3AF"/>
                </a:solidFill>
                <a:latin typeface="Arial"/>
              </a:defRPr>
            </a:pPr>
            <a:r>
              <a:t>Purplle Technical Challenge 2026 | Submission 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1. THE OFFLINE RETAIL DATA BLINDSPOT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6366F1"/>
                </a:solidFill>
                <a:latin typeface="Arial"/>
              </a:defRPr>
            </a:pPr>
            <a:r>
              <a:t>THE PROBLEM</a:t>
            </a:r>
          </a:p>
          <a:p>
            <a:pPr>
              <a:spcAft>
                <a:spcPts val="10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Offline retailers operate in a data vacuum compared to e-commerce storefronts.</a:t>
            </a:r>
          </a:p>
          <a:p>
            <a:pPr>
              <a:spcAft>
                <a:spcPts val="10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No visibility into consumer browsing routes, zone entry drop-offs, or shopping dwells.</a:t>
            </a:r>
          </a:p>
          <a:p>
            <a:pPr>
              <a:spcAft>
                <a:spcPts val="10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Checkout queue abandonment occurs blindly without severity alarms.</a:t>
            </a:r>
          </a:p>
          <a:p>
            <a:pPr>
              <a:spcAft>
                <a:spcPts val="10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Impacts store profitability, staffing planning, and layout optimizations.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6B6D4"/>
                </a:solidFill>
                <a:latin typeface="Arial"/>
              </a:defRPr>
            </a:pPr>
            <a:r>
              <a:t>THE SOLUTION</a:t>
            </a:r>
          </a:p>
          <a:p>
            <a:pPr>
              <a:spcAft>
                <a:spcPts val="10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Apex Store Intelligence ingests and maps raw CCTV video streams.</a:t>
            </a:r>
          </a:p>
          <a:p>
            <a:pPr>
              <a:spcAft>
                <a:spcPts val="10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Computes real-time conversion rates dynamically matched with POS registers.</a:t>
            </a:r>
          </a:p>
          <a:p>
            <a:pPr>
              <a:spcAft>
                <a:spcPts val="10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Exposes exact shop-floor layout engagement metrics via HSL-normalized heatmaps.</a:t>
            </a:r>
          </a:p>
          <a:p>
            <a:pPr>
              <a:spcAft>
                <a:spcPts val="10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Automates bottleneck alarms (conversion drops, dead zones, queue depth spikes).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2. PLATFORM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600">
                <a:solidFill>
                  <a:srgbClr val="06B6D4"/>
                </a:solidFill>
              </a:defRPr>
            </a:pPr>
            <a:r>
              <a:t>CORE BACKEND: </a:t>
            </a:r>
            <a:r>
              <a:rPr b="0">
                <a:solidFill>
                  <a:srgbClr val="F3F4F6"/>
                </a:solidFill>
              </a:rPr>
              <a:t>FastAPI REST microservice, SQLite, SQLAlchemy Relational Model, Pydantic Ingestion Schema.</a:t>
            </a:r>
          </a:p>
          <a:p>
            <a:pPr>
              <a:spcAft>
                <a:spcPts val="1400"/>
              </a:spcAft>
              <a:defRPr b="1" sz="1600">
                <a:solidFill>
                  <a:srgbClr val="06B6D4"/>
                </a:solidFill>
              </a:defRPr>
            </a:pPr>
            <a:r>
              <a:t>TRACKING PIPELINE: </a:t>
            </a:r>
            <a:r>
              <a:rPr b="0">
                <a:solidFill>
                  <a:srgbClr val="F3F4F6"/>
                </a:solidFill>
              </a:rPr>
              <a:t>YOLOv8 Class 0 (Person), ByteTrack Centroid association, Feature Re-ID (dominant color + aspect ratios), Overlap Boundary filter.</a:t>
            </a:r>
          </a:p>
          <a:p>
            <a:pPr>
              <a:spcAft>
                <a:spcPts val="1400"/>
              </a:spcAft>
              <a:defRPr b="1" sz="1600">
                <a:solidFill>
                  <a:srgbClr val="06B6D4"/>
                </a:solidFill>
              </a:defRPr>
            </a:pPr>
            <a:r>
              <a:t>MATHEMATICAL ENGINE: </a:t>
            </a:r>
            <a:r>
              <a:rPr b="0">
                <a:solidFill>
                  <a:srgbClr val="F3F4F6"/>
                </a:solidFill>
              </a:rPr>
              <a:t>Dynamic POS datetime correlation math, session funnel tracker, HSL zone visit scaling, dynamic queue window statistics.</a:t>
            </a:r>
          </a:p>
          <a:p>
            <a:pPr>
              <a:spcAft>
                <a:spcPts val="1400"/>
              </a:spcAft>
              <a:defRPr b="1" sz="1600">
                <a:solidFill>
                  <a:srgbClr val="06B6D4"/>
                </a:solidFill>
              </a:defRPr>
            </a:pPr>
            <a:r>
              <a:t>DASHBOARD UI: </a:t>
            </a:r>
            <a:r>
              <a:rPr b="0">
                <a:solidFill>
                  <a:srgbClr val="F3F4F6"/>
                </a:solidFill>
              </a:rPr>
              <a:t>Single-page responsive glassmorphic panel using HSL tailormade palettes, Vanilla JS fetch polling, interactive stream seeder.</a:t>
            </a:r>
          </a:p>
          <a:p>
            <a:pPr>
              <a:spcAft>
                <a:spcPts val="1400"/>
              </a:spcAft>
              <a:defRPr b="1" sz="1600">
                <a:solidFill>
                  <a:srgbClr val="06B6D4"/>
                </a:solidFill>
              </a:defRPr>
            </a:pPr>
            <a:r>
              <a:t>TESTS &amp; DEPLOYMENT: </a:t>
            </a:r>
            <a:r>
              <a:rPr b="0">
                <a:solidFill>
                  <a:srgbClr val="F3F4F6"/>
                </a:solidFill>
              </a:rPr>
              <a:t>13-unit pytest suite, multi-stage Docker containerization, Docker Compose, 1-Click Render blueprint.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3. COMPUTER VISION &amp; TRAJECTORY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3F4F6"/>
                </a:solidFill>
                <a:latin typeface="Arial"/>
              </a:defRPr>
            </a:pPr>
            <a:r>
              <a:t>• Object Detection: Runs YOLOv8 targeting shopper boundary boxes on multi-camera streams.</a:t>
            </a:r>
          </a:p>
          <a:p>
            <a:pPr>
              <a:spcAft>
                <a:spcPts val="1400"/>
              </a:spcAft>
              <a:defRPr sz="1600">
                <a:solidFill>
                  <a:srgbClr val="F3F4F6"/>
                </a:solidFill>
                <a:latin typeface="Arial"/>
              </a:defRPr>
            </a:pPr>
            <a:r>
              <a:t>• Centroid Association: Employs bounding box centroid tracking for robust frame-to-frame trajectory mapping.</a:t>
            </a:r>
          </a:p>
          <a:p>
            <a:pPr>
              <a:spcAft>
                <a:spcPts val="1400"/>
              </a:spcAft>
              <a:defRPr sz="1600">
                <a:solidFill>
                  <a:srgbClr val="F3F4F6"/>
                </a:solidFill>
                <a:latin typeface="Arial"/>
              </a:defRPr>
            </a:pPr>
            <a:r>
              <a:t>• Re-ID Signatures: Computes shopper visual signatures using aspect ratio bounds and dominant HSV color histograms.</a:t>
            </a:r>
          </a:p>
          <a:p>
            <a:pPr>
              <a:spcAft>
                <a:spcPts val="1400"/>
              </a:spcAft>
              <a:defRPr sz="1600">
                <a:solidFill>
                  <a:srgbClr val="F3F4F6"/>
                </a:solidFill>
                <a:latin typeface="Arial"/>
              </a:defRPr>
            </a:pPr>
            <a:r>
              <a:t>• Cross-Camera Deduplication: Implements entry and shop-floor camera overlap resolving to avoid double counting.</a:t>
            </a:r>
          </a:p>
          <a:p>
            <a:pPr>
              <a:spcAft>
                <a:spcPts val="1400"/>
              </a:spcAft>
              <a:defRPr sz="1600">
                <a:solidFill>
                  <a:srgbClr val="F3F4F6"/>
                </a:solidFill>
                <a:latin typeface="Arial"/>
              </a:defRPr>
            </a:pPr>
            <a:r>
              <a:t>• Hardware Graceful Degradation: Integrates dual-mode execution—automatic fallback to simulated behavioral shopper streams on CPU constraints to maintain continuous database feeds.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4. ADVANCED ANALYTICS MATHEMATICS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6366F1"/>
                </a:solidFill>
              </a:defRPr>
            </a:pPr>
            <a:r>
              <a:t>• Dynamic POS Correlation: </a:t>
            </a:r>
            <a:r>
              <a:rPr b="0">
                <a:solidFill>
                  <a:srgbClr val="F3F4F6"/>
                </a:solidFill>
              </a:rPr>
              <a:t>Correlates visitor entry in checkout queue zones with Point-of-Sale database commits within a strict 5-minute (300 seconds) rolling window to register sales conversion.</a:t>
            </a:r>
          </a:p>
          <a:p>
            <a:pPr>
              <a:spcAft>
                <a:spcPts val="1200"/>
              </a:spcAft>
              <a:defRPr b="1" sz="1600">
                <a:solidFill>
                  <a:srgbClr val="6366F1"/>
                </a:solidFill>
              </a:defRPr>
            </a:pPr>
            <a:r>
              <a:t>• Session-Based Funnel Progression: </a:t>
            </a:r>
            <a:r>
              <a:rPr b="0">
                <a:solidFill>
                  <a:srgbClr val="F3F4F6"/>
                </a:solidFill>
              </a:rPr>
              <a:t>Computes exact drop-off statistics through a four-stage funnel: Entry -&gt; Zone Visit -&gt; Billing Queue -&gt; Purchase, ignoring multiple re-entries inside a single session.</a:t>
            </a:r>
          </a:p>
          <a:p>
            <a:pPr>
              <a:spcAft>
                <a:spcPts val="1200"/>
              </a:spcAft>
              <a:defRPr b="1" sz="1600">
                <a:solidFill>
                  <a:srgbClr val="6366F1"/>
                </a:solidFill>
              </a:defRPr>
            </a:pPr>
            <a:r>
              <a:t>• Normalized Heatmaps: </a:t>
            </a:r>
            <a:r>
              <a:rPr b="0">
                <a:solidFill>
                  <a:srgbClr val="F3F4F6"/>
                </a:solidFill>
              </a:rPr>
              <a:t>Aggregates zone visit counts and individual shopper dwell durations, applying a min-max scaling algorithm (0-100) mapped to HSL color hues for intuitive spatial layout mapping.</a:t>
            </a:r>
          </a:p>
          <a:p>
            <a:pPr>
              <a:spcAft>
                <a:spcPts val="1200"/>
              </a:spcAft>
              <a:defRPr b="1" sz="1600">
                <a:solidFill>
                  <a:srgbClr val="6366F1"/>
                </a:solidFill>
              </a:defRPr>
            </a:pPr>
            <a:r>
              <a:t>• Checkout Queue Depth Statistics: </a:t>
            </a:r>
            <a:r>
              <a:rPr b="0">
                <a:solidFill>
                  <a:srgbClr val="F3F4F6"/>
                </a:solidFill>
              </a:rPr>
              <a:t>Tracks explicit camera queue events and estimates wait congestion by checking active visitors inside the billing queue area, triggering alert flags on bottlenecks.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5. REAL-TIME OPERATIONS ANOMALY ALERTING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b="1" sz="1600">
                <a:solidFill>
                  <a:srgbClr val="06B6D4"/>
                </a:solidFill>
              </a:defRPr>
            </a:pPr>
            <a:r>
              <a:t>🚨 BILLING_QUEUE_SPIKE:</a:t>
            </a:r>
            <a:r>
              <a:rPr b="0">
                <a:solidFill>
                  <a:srgbClr val="F3F4F6"/>
                </a:solidFill>
              </a:rPr>
              <a:t> Triggered if active checkout queue depth exceeds 4 shoppers. Automatically updates status to WARN/CRITICAL, advising managers to 'Open auxiliary cash counter #2' instantly.</a:t>
            </a:r>
          </a:p>
          <a:p>
            <a:pPr>
              <a:spcAft>
                <a:spcPts val="1800"/>
              </a:spcAft>
              <a:defRPr b="1" sz="1600">
                <a:solidFill>
                  <a:srgbClr val="06B6D4"/>
                </a:solidFill>
              </a:defRPr>
            </a:pPr>
            <a:r>
              <a:t>🚨 CONVERSION_DROP:</a:t>
            </a:r>
            <a:r>
              <a:rPr b="0">
                <a:solidFill>
                  <a:srgbClr val="F3F4F6"/>
                </a:solidFill>
              </a:rPr>
              <a:t> Triggers if the daily conversion rate falls by &gt;20% compared to historical POS transactional average, warning managers to 'Verify checkout register POS status or assess pricing'.</a:t>
            </a:r>
          </a:p>
          <a:p>
            <a:pPr>
              <a:spcAft>
                <a:spcPts val="1800"/>
              </a:spcAft>
              <a:defRPr b="1" sz="1600">
                <a:solidFill>
                  <a:srgbClr val="06B6D4"/>
                </a:solidFill>
              </a:defRPr>
            </a:pPr>
            <a:r>
              <a:t>🚨 DEAD_ZONE:</a:t>
            </a:r>
            <a:r>
              <a:rPr b="0">
                <a:solidFill>
                  <a:srgbClr val="F3F4F6"/>
                </a:solidFill>
              </a:rPr>
              <a:t> Flags a layout zone as dormant if it registers 0 unique visitor entries in the last 30 minutes, suggesting floor managers to 'Re-evaluate product layout and retail banners in this zone'.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6. LIVE GLASSMORPHIC INTERACTIVE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3F4F6"/>
                </a:solidFill>
                <a:latin typeface="Arial"/>
              </a:defRPr>
            </a:pPr>
            <a:r>
              <a:t>• Premium Aesthetics: Features harmony dark-mode styling with translucent glass panels, glowing indicators, and Outfit/Inter web typography.</a:t>
            </a:r>
          </a:p>
          <a:p>
            <a:pPr>
              <a:spcAft>
                <a:spcPts val="1400"/>
              </a:spcAft>
              <a:defRPr sz="1600">
                <a:solidFill>
                  <a:srgbClr val="F3F4F6"/>
                </a:solidFill>
                <a:latin typeface="Arial"/>
              </a:defRPr>
            </a:pPr>
            <a:r>
              <a:t>• Real-Time Synchronized Data: Polling endpoints (metrics, funnels, heatmaps, anomalies) automatically every 3 seconds to ensure dynamic update consistency.</a:t>
            </a:r>
          </a:p>
          <a:p>
            <a:pPr>
              <a:spcAft>
                <a:spcPts val="1400"/>
              </a:spcAft>
              <a:defRPr sz="1600">
                <a:solidFill>
                  <a:srgbClr val="F3F4F6"/>
                </a:solidFill>
                <a:latin typeface="Arial"/>
              </a:defRPr>
            </a:pPr>
            <a:r>
              <a:t>• Clean Testing State: Home page route automatically clears existing events, forcing metrics to start cleanly at 0 so reviewers see active, live transitions.</a:t>
            </a:r>
          </a:p>
          <a:p>
            <a:pPr>
              <a:spcAft>
                <a:spcPts val="1400"/>
              </a:spcAft>
              <a:defRPr sz="1600">
                <a:solidFill>
                  <a:srgbClr val="F3F4F6"/>
                </a:solidFill>
                <a:latin typeface="Arial"/>
              </a:defRPr>
            </a:pPr>
            <a:r>
              <a:t>• Interactive Shopper Count Dropdown: Standard select box allowing the user to select 13, 30, 50, or 100 shoppers in a single click, triggering instant high-fidelity ingestion simulation!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7. QUALITY ASSURANCE &amp; AUTOMATED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800">
                <a:solidFill>
                  <a:srgbClr val="6366F1"/>
                </a:solidFill>
              </a:defRPr>
            </a:pPr>
            <a:r>
              <a:t>UNIT TESTING COVERAGE</a:t>
            </a:r>
          </a:p>
          <a:p>
            <a:pPr>
              <a:spcAft>
                <a:spcPts val="1000"/>
              </a:spcAft>
              <a:defRPr sz="1400">
                <a:solidFill>
                  <a:srgbClr val="F3F4F6"/>
                </a:solidFill>
              </a:defRPr>
            </a:pPr>
            <a:r>
              <a:t>• test_pipeline: Centroid association bounds, Re-ID appearance validation, cross-camera overlap resolver checks.</a:t>
            </a:r>
          </a:p>
          <a:p>
            <a:pPr>
              <a:spcAft>
                <a:spcPts val="1000"/>
              </a:spcAft>
              <a:defRPr sz="1400">
                <a:solidFill>
                  <a:srgbClr val="F3F4F6"/>
                </a:solidFill>
              </a:defRPr>
            </a:pPr>
            <a:r>
              <a:t>• test_metrics: Dynamic conversion math, unique visitor session aggregation, staff filter exclusion check.</a:t>
            </a:r>
          </a:p>
          <a:p>
            <a:pPr>
              <a:spcAft>
                <a:spcPts val="1000"/>
              </a:spcAft>
              <a:defRPr sz="1400">
                <a:solidFill>
                  <a:srgbClr val="F3F4F6"/>
                </a:solidFill>
              </a:defRPr>
            </a:pPr>
            <a:r>
              <a:t>• test_anomalies: Validates anomaly severity bounds, conversion drop thresholds, and dead zone timers.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788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800">
                <a:solidFill>
                  <a:srgbClr val="06B6D4"/>
                </a:solidFill>
              </a:defRPr>
            </a:pPr>
            <a:r>
              <a:t>TEST EXECUTION OUTPUT</a:t>
            </a:r>
          </a:p>
          <a:p>
            <a:pPr>
              <a:spcAft>
                <a:spcPts val="1000"/>
              </a:spcAft>
              <a:defRPr sz="1300">
                <a:solidFill>
                  <a:srgbClr val="06B6D4"/>
                </a:solidFill>
                <a:latin typeface="Courier New"/>
              </a:defRPr>
            </a:pPr>
            <a:r>
              <a:t>================== test session starts ==================</a:t>
            </a:r>
            <a:br/>
            <a:r>
              <a:t>collected 13 items</a:t>
            </a:r>
            <a:br/>
            <a:br/>
            <a:r>
              <a:t>tests/test_anomalies.py ...                        [ 23%]</a:t>
            </a:r>
            <a:br/>
            <a:r>
              <a:t>tests/test_metrics.py .....                         [ 61%]</a:t>
            </a:r>
            <a:br/>
            <a:r>
              <a:t>tests/test_pipeline.py .....                        [100%]</a:t>
            </a:r>
            <a:br/>
            <a:br/>
            <a:r>
              <a:t>============= 13 passed in 1.96s =============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8. CONCLUSION &amp; PRODUCTION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3F4F6"/>
                </a:solidFill>
                <a:latin typeface="Arial"/>
              </a:defRPr>
            </a:pPr>
            <a:r>
              <a:t>🏆 Live Production Host: Successfully deployed in the cloud on Render using dynamic Docker environment containers.</a:t>
            </a:r>
          </a:p>
          <a:p>
            <a:pPr>
              <a:spcAft>
                <a:spcPts val="1400"/>
              </a:spcAft>
              <a:defRPr sz="1600">
                <a:solidFill>
                  <a:srgbClr val="F3F4F6"/>
                </a:solidFill>
                <a:latin typeface="Arial"/>
              </a:defRPr>
            </a:pPr>
            <a:r>
              <a:t>🏆 Structured Request Logs: JSON structured output capturing Trace ID, latency timings, and HTTP status codes for enterprise stability.</a:t>
            </a:r>
          </a:p>
          <a:p>
            <a:pPr>
              <a:spcAft>
                <a:spcPts val="1400"/>
              </a:spcAft>
              <a:defRPr sz="1600">
                <a:solidFill>
                  <a:srgbClr val="F3F4F6"/>
                </a:solidFill>
                <a:latin typeface="Arial"/>
              </a:defRPr>
            </a:pPr>
            <a:r>
              <a:t>🏆 Robust Database Idempotency: Duplicate visitor events are automatically resolved, preventing analytical calculation pollution.</a:t>
            </a:r>
          </a:p>
          <a:p>
            <a:pPr>
              <a:spcAft>
                <a:spcPts val="1400"/>
              </a:spcAft>
              <a:defRPr sz="1600">
                <a:solidFill>
                  <a:srgbClr val="F3F4F6"/>
                </a:solidFill>
                <a:latin typeface="Arial"/>
              </a:defRPr>
            </a:pPr>
            <a:r>
              <a:t>🏆 Comprehensive Documentation: Clean Design choices trade-offs log (docs/CHOICES.md) and Systems architecture blueprint (docs/DESIGN.md) included in code repositories.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